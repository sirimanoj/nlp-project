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5120640"/>
          </a:xfrm>
          <a:prstGeom prst="roundRect">
            <a:avLst>
              <a:gd name="adj" fmla="val 1786"/>
            </a:avLst>
          </a:prstGeom>
          <a:solidFill>
            <a:srgbClr val="13395B">
              <a:alpha val="98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 Retrieval Using Dependency Graphs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IR on TREC-COVID with Semantic and Structural Matching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3375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Student: [Your Name]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Course: Natural Language Processing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Institution: IIIT Dharwad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0" y="3108960"/>
            <a:ext cx="2011680" cy="2011680"/>
          </a:xfrm>
          <a:prstGeom prst="ellipse">
            <a:avLst/>
          </a:prstGeom>
          <a:solidFill>
            <a:srgbClr val="2EC4B6">
              <a:alpha val="92000"/>
            </a:srgbClr>
          </a:solidFill>
          <a:ln w="12700">
            <a:solidFill>
              <a:srgbClr val="2EC4B6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0" y="3657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Final Project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Survey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08960" y="1508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development in Graph/Neural IR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C4C75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Implementation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2423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Dataset, parser, retrieval pipeline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Innovation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0896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nodes + relation-aware edges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0690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C4C75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51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Analysis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08960" y="4251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Diagnostics, ablation, limits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9834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166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Deployment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08960" y="5166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 frontend + Render backend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Course Project | Information Retrieval Using Dependency Graphs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and Objective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2344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1C4C75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standard keyword search is insufficient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502920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Exact words miss semantic equivalents (covid vs virus).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Bag-of-words ignores sentence structure and dependency roles.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Different relations can change meaning even with same terms.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Need retrieval that uses both meaning and syntax.
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0" y="1554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6560" y="2011680"/>
            <a:ext cx="438912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Build a Graph IR engine over TREC-COVID.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Construct dependency graphs for query and documents.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Score with semantic node similarity + edge relation overlap.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Retrieve top-k docs and evaluate with precision/recall.
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4709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one-line pitch: retrieval by meaning + structure.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Course Project | Information Retrieval Using Dependency Graphs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Survey: Evolution of the Field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972800" cy="5394960"/>
          </a:xfrm>
          <a:prstGeom prst="roundRect">
            <a:avLst>
              <a:gd name="adj" fmla="val 1356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Chronological development and motivation for Graph IR: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10241280" cy="713232"/>
          </a:xfrm>
          <a:prstGeom prst="roundRect">
            <a:avLst>
              <a:gd name="adj" fmla="val 6410"/>
            </a:avLst>
          </a:prstGeom>
          <a:solidFill>
            <a:srgbClr val="13395B">
              <a:alpha val="97000"/>
            </a:srgbClr>
          </a:solidFill>
          <a:ln w="12700">
            <a:solidFill>
              <a:srgbClr val="6C8CC2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03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Classical IR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2103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TF-IDF, BM25 ranking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103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7E8"/>
                </a:solidFill>
              </a:rPr>
              <a:t>Strong lexical baseline, weak semantic capture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770632"/>
            <a:ext cx="10241280" cy="713232"/>
          </a:xfrm>
          <a:prstGeom prst="roundRect">
            <a:avLst>
              <a:gd name="adj" fmla="val 6410"/>
            </a:avLst>
          </a:prstGeom>
          <a:solidFill>
            <a:srgbClr val="1C4C75">
              <a:alpha val="97000"/>
            </a:srgbClr>
          </a:solidFill>
          <a:ln w="12700">
            <a:solidFill>
              <a:srgbClr val="6C8CC2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953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Syntactic IR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29535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Dependency links for matching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9535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7E8"/>
                </a:solidFill>
              </a:rPr>
              <a:t>Adds structure but brittle with synonyms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621024"/>
            <a:ext cx="10241280" cy="713232"/>
          </a:xfrm>
          <a:prstGeom prst="roundRect">
            <a:avLst>
              <a:gd name="adj" fmla="val 6410"/>
            </a:avLst>
          </a:prstGeom>
          <a:solidFill>
            <a:srgbClr val="13395B">
              <a:alpha val="97000"/>
            </a:srgbClr>
          </a:solidFill>
          <a:ln w="12700">
            <a:solidFill>
              <a:srgbClr val="6C8CC2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803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Graph-of-Words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38039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Term graph centrality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8039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7E8"/>
                </a:solidFill>
              </a:rPr>
              <a:t>Captures topology, less deep semantics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471416"/>
            <a:ext cx="10241280" cy="713232"/>
          </a:xfrm>
          <a:prstGeom prst="roundRect">
            <a:avLst>
              <a:gd name="adj" fmla="val 6410"/>
            </a:avLst>
          </a:prstGeom>
          <a:solidFill>
            <a:srgbClr val="1C4C75">
              <a:alpha val="97000"/>
            </a:srgbClr>
          </a:solidFill>
          <a:ln w="12700">
            <a:solidFill>
              <a:srgbClr val="6C8CC2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6542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Neural Retrieval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54680" y="46542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SBERT, DPR, ColBERT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46542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7E8"/>
                </a:solidFill>
              </a:rPr>
              <a:t>Strong semantics, less explicit syntax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5321808"/>
            <a:ext cx="10241280" cy="713232"/>
          </a:xfrm>
          <a:prstGeom prst="roundRect">
            <a:avLst>
              <a:gd name="adj" fmla="val 6410"/>
            </a:avLst>
          </a:prstGeom>
          <a:solidFill>
            <a:srgbClr val="13395B">
              <a:alpha val="97000"/>
            </a:srgbClr>
          </a:solidFill>
          <a:ln w="12700">
            <a:solidFill>
              <a:srgbClr val="6C8CC2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5504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Hybrid Methods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54680" y="5504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Graph + neural signals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55046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7E8"/>
                </a:solidFill>
              </a:rPr>
              <a:t>Best direction; motivates this project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Survey: prior development in this field (not questionnaire survey)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 and Proposed Contribution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2344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1C4C75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5727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</a:rPr>
              <a:t>Observed gaps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47548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Lexical methods ignore semantic equivalence.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Neural-only methods hide structural reasoning.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Exact edge matching is too strict for real text.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Many pipelines fail on empty/short graph cases.
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15727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</a:rPr>
              <a:t>Our contribution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466344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Dependency graph feature extraction for query and docs.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Semantic node similarity via embeddings.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Improved edge similarity via dependency relation overlap.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Robust empty-node/edge safeguards for stability.
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Course Project | Information Retrieval Using Dependency Graphs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972800" cy="5029200"/>
          </a:xfrm>
          <a:prstGeom prst="roundRect">
            <a:avLst>
              <a:gd name="adj" fmla="val 1455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774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4D7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60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8FF"/>
                </a:solidFill>
              </a:rPr>
              <a:t>User Query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23774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4D73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560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8FF"/>
                </a:solidFill>
              </a:rPr>
              <a:t>spaCy Parser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4D73"/>
          </a:solidFill>
          <a:ln w="12700">
            <a:solidFill>
              <a:srgbClr val="6C8C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423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8FF"/>
                </a:solidFill>
              </a:rPr>
              <a:t>Graph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3F8FF"/>
                </a:solidFill>
              </a:rPr>
              <a:t>(nodes, edges, rels)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78308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4D73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965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8FF"/>
                </a:solidFill>
              </a:rPr>
              <a:t>Semantic Node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3F8FF"/>
                </a:solidFill>
              </a:rPr>
              <a:t>Similarity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30632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4D7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246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8FF"/>
                </a:solidFill>
              </a:rPr>
              <a:t>Edge Relation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3F8FF"/>
                </a:solidFill>
              </a:rPr>
              <a:t>Similarity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35440" y="224028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4D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2423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8FF"/>
                </a:solidFill>
              </a:rPr>
              <a:t>Weighted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3F8FF"/>
                </a:solidFill>
              </a:rPr>
              <a:t>0.7*node + 0.3*edge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33472" y="2788920"/>
            <a:ext cx="146304" cy="228600"/>
          </a:xfrm>
          <a:prstGeom prst="chevro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7992" y="2788920"/>
            <a:ext cx="146304" cy="228600"/>
          </a:xfrm>
          <a:prstGeom prst="chevro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2258568"/>
            <a:ext cx="137160" cy="228600"/>
          </a:xfrm>
          <a:prstGeom prst="chevro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3538728"/>
            <a:ext cx="137160" cy="228600"/>
          </a:xfrm>
          <a:prstGeom prst="chevro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79992" y="2788920"/>
            <a:ext cx="137160" cy="228600"/>
          </a:xfrm>
          <a:prstGeom prst="chevro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5262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7E8"/>
                </a:solidFill>
              </a:rPr>
              <a:t>Document corpus follows the same pipeline and is ranked by final score.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Course Project | Information Retrieval Using Dependency Graphs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Details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623560" cy="4937760"/>
          </a:xfrm>
          <a:prstGeom prst="roundRect">
            <a:avLst>
              <a:gd name="adj" fmla="val 1481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1234440"/>
            <a:ext cx="4983480" cy="4937760"/>
          </a:xfrm>
          <a:prstGeom prst="roundRect">
            <a:avLst>
              <a:gd name="adj" fmla="val 1481"/>
            </a:avLst>
          </a:prstGeom>
          <a:solidFill>
            <a:srgbClr val="1C4C75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703"/>
                </a:solidFill>
              </a:rPr>
              <a:t>Dataset and preprocessing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50292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Dataset: TREC-COVID corpus and topics.
</a:t>
            </a:r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Practical subset: first 1000 docs for fast experiments.
</a:t>
            </a:r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Primary text field: abstract.
</a:t>
            </a:r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Option to remove stopwords before graph construction.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</a:rPr>
              <a:t>Tech stack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93776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Parser: spaCy dependency parser
</a:t>
            </a:r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Retrieval logic: custom Graph IR scorer
</a:t>
            </a:r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Backend: FastAPI (Render)
</a:t>
            </a:r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Frontend: Vercel static app + API calls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1554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C4B6"/>
                </a:solidFill>
              </a:rPr>
              <a:t>Scoring functions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20840" y="2011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NodeSim = semantic similarity between query/document node sets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2560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EdgeSim = Jaccard overlap on dependency relation labels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3154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</a:rPr>
              <a:t>FinalScore = 0.7 * NodeSim + 0.3 * EdgeSim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37947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7E8"/>
                </a:solidFill>
              </a:rPr>
              <a:t>Robustness: if nodes or edges are empty, similarity defaults to 0 instead of crashing.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Course Project | Information Retrieval Using Dependency Graphs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Innovation Highlights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972800" cy="5029200"/>
          </a:xfrm>
          <a:prstGeom prst="roundRect">
            <a:avLst>
              <a:gd name="adj" fmla="val 1455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7452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</a:rPr>
              <a:t>Innovation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Semantic node matching captures synonym-level meaning.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187452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1C4C75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</a:rPr>
              <a:t>Innovation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5146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Relation-aware edge score preserves structural intent.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87452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</a:rPr>
              <a:t>Innovation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5146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Deployment split: Vercel frontend + Render API for reliability.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87452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1C4C75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</a:rPr>
              <a:t>Innovation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35440" y="25146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8FF"/>
                </a:solidFill>
              </a:rPr>
              <a:t>Error-safe scoring with empty-graph handling.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14173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</a:rPr>
              <a:t>These innovations directly target implementation marks + innovation marks.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Course Project | Information Retrieval Using Dependency Graphs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Architecture (Live Demo Ready)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972800" cy="5029200"/>
          </a:xfrm>
          <a:prstGeom prst="roundRect">
            <a:avLst>
              <a:gd name="adj" fmla="val 1455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01168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1C4C75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201168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20116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C4C75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788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703"/>
                </a:solidFill>
              </a:rPr>
              <a:t>Vercel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B703"/>
                </a:solidFill>
              </a:rPr>
              <a:t>Frontend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983480" y="2788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</a:rPr>
              <a:t>Render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</a:rPr>
              <a:t>FastAPI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41080" y="2788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Graph IR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Engine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114800" y="3291840"/>
            <a:ext cx="411480" cy="320040"/>
          </a:xfrm>
          <a:prstGeom prst="chevro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291840"/>
            <a:ext cx="411480" cy="320040"/>
          </a:xfrm>
          <a:prstGeom prst="chevro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4406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link: https://graphirfrontend.vercel.app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Course Project | Information Retrieval Using Dependency Graphs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Analysis: Diagnostic Score Improvements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972800" cy="5029200"/>
          </a:xfrm>
          <a:prstGeom prst="roundRect">
            <a:avLst>
              <a:gd name="adj" fmla="val 1455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</a:rPr>
              <a:t>Single-query diagnostic from prototype runs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3383280" cy="457200"/>
          </a:xfrm>
          <a:prstGeom prst="rect">
            <a:avLst/>
          </a:prstGeom>
          <a:solidFill>
            <a:srgbClr val="1C4C75"/>
          </a:solidFill>
          <a:ln w="12700">
            <a:solidFill>
              <a:srgbClr val="6C8C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84832"/>
            <a:ext cx="3273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</a:rPr>
              <a:t>Method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1645920" cy="457200"/>
          </a:xfrm>
          <a:prstGeom prst="rect">
            <a:avLst/>
          </a:prstGeom>
          <a:solidFill>
            <a:srgbClr val="1C4C75"/>
          </a:solidFill>
          <a:ln w="12700">
            <a:solidFill>
              <a:srgbClr val="6C8C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208483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</a:rPr>
              <a:t>Score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965960"/>
            <a:ext cx="6309360" cy="457200"/>
          </a:xfrm>
          <a:prstGeom prst="rect">
            <a:avLst/>
          </a:prstGeom>
          <a:solidFill>
            <a:srgbClr val="1C4C75"/>
          </a:solidFill>
          <a:ln w="12700">
            <a:solidFill>
              <a:srgbClr val="6C8C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2084832"/>
            <a:ext cx="6199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423160"/>
            <a:ext cx="3383280" cy="512064"/>
          </a:xfrm>
          <a:prstGeom prst="rect">
            <a:avLst/>
          </a:prstGeom>
          <a:solidFill>
            <a:srgbClr val="1C4C75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560320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Exact graph overlap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423160"/>
            <a:ext cx="1645920" cy="512064"/>
          </a:xfrm>
          <a:prstGeom prst="rect">
            <a:avLst/>
          </a:prstGeom>
          <a:solidFill>
            <a:srgbClr val="1C4C75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560320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0.0061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423160"/>
            <a:ext cx="6309360" cy="512064"/>
          </a:xfrm>
          <a:prstGeom prst="rect">
            <a:avLst/>
          </a:prstGeom>
          <a:solidFill>
            <a:srgbClr val="1C4C75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2560320"/>
            <a:ext cx="6199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Too strict, misses semantic equivalence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2935224"/>
            <a:ext cx="3383280" cy="512064"/>
          </a:xfrm>
          <a:prstGeom prst="rect">
            <a:avLst/>
          </a:prstGeom>
          <a:solidFill>
            <a:srgbClr val="13395B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072384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Semantic node similarity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2935224"/>
            <a:ext cx="1645920" cy="512064"/>
          </a:xfrm>
          <a:prstGeom prst="rect">
            <a:avLst/>
          </a:prstGeom>
          <a:solidFill>
            <a:srgbClr val="13395B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072384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0.5132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2935224"/>
            <a:ext cx="6309360" cy="512064"/>
          </a:xfrm>
          <a:prstGeom prst="rect">
            <a:avLst/>
          </a:prstGeom>
          <a:solidFill>
            <a:srgbClr val="13395B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6752" y="3072384"/>
            <a:ext cx="6199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Captures meaning-level overlap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3447288"/>
            <a:ext cx="3383280" cy="512064"/>
          </a:xfrm>
          <a:prstGeom prst="rect">
            <a:avLst/>
          </a:prstGeom>
          <a:solidFill>
            <a:srgbClr val="1C4C75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3584448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Weighted final score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3447288"/>
            <a:ext cx="1645920" cy="512064"/>
          </a:xfrm>
          <a:prstGeom prst="rect">
            <a:avLst/>
          </a:prstGeom>
          <a:solidFill>
            <a:srgbClr val="1C4C75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58444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0.4522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3447288"/>
            <a:ext cx="6309360" cy="512064"/>
          </a:xfrm>
          <a:prstGeom prst="rect">
            <a:avLst/>
          </a:prstGeom>
          <a:solidFill>
            <a:srgbClr val="1C4C75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16752" y="3584448"/>
            <a:ext cx="6199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Structure term initially pulled score down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3959352"/>
            <a:ext cx="3383280" cy="512064"/>
          </a:xfrm>
          <a:prstGeom prst="rect">
            <a:avLst/>
          </a:prstGeom>
          <a:solidFill>
            <a:srgbClr val="13395B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4096512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Improved edge relation score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97680" y="3959352"/>
            <a:ext cx="1645920" cy="512064"/>
          </a:xfrm>
          <a:prstGeom prst="rect">
            <a:avLst/>
          </a:prstGeom>
          <a:solidFill>
            <a:srgbClr val="13395B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4096512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0.4936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0" y="3959352"/>
            <a:ext cx="6309360" cy="512064"/>
          </a:xfrm>
          <a:prstGeom prst="rect">
            <a:avLst/>
          </a:prstGeom>
          <a:solidFill>
            <a:srgbClr val="13395B">
              <a:alpha val="95000"/>
            </a:srgbClr>
          </a:solidFill>
          <a:ln w="12700">
            <a:solidFill>
              <a:srgbClr val="6C8CC2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4096512"/>
            <a:ext cx="6199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8FF"/>
                </a:solidFill>
              </a:rPr>
              <a:t>Better structural matching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50749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</a:rPr>
              <a:t>Key takeaway: combining semantic + structural signals provides more realistic retrieval scoring.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Course Project | Information Retrieval Using Dependency Graphs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Ablation and Error 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123444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1C4C75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727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703"/>
                </a:solidFill>
              </a:rPr>
              <a:t>Ablation summary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502920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Remove semantic nodes -&gt; major score collapse.
</a:t>
            </a:r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exact edges only -&gt; brittle matching.
</a:t>
            </a:r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 relation-based edges -&gt; score recovery.
</a:t>
            </a:r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Disable safeguards -&gt; runtime errors on sparse text.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5727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C4B6"/>
                </a:solidFill>
              </a:rPr>
              <a:t>Observed limitations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2011680"/>
            <a:ext cx="475488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Subset evaluation can under-represent true recall.
</a:t>
            </a:r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Dependency parsing quality affects edge accuracy.
</a:t>
            </a:r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Lite embedding mode is stable but less expressive.
</a:t>
            </a:r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Full-model inference costs more compute/time.
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Course Project | Information Retrieval Using Dependency Graphs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 for Presentation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972800" cy="5029200"/>
          </a:xfrm>
          <a:prstGeom prst="roundRect">
            <a:avLst>
              <a:gd name="adj" fmla="val 1455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709928"/>
            <a:ext cx="320040" cy="3200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1852" y="1773936"/>
            <a:ext cx="1280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44752" y="173736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</a:rPr>
              <a:t>Open frontend: graphirfrontend.vercel.app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2322576"/>
            <a:ext cx="320040" cy="3200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1852" y="2386584"/>
            <a:ext cx="1280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44752" y="2350008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</a:rPr>
              <a:t>Paste Render backend URL and click Load Corpus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5840" y="2935224"/>
            <a:ext cx="320040" cy="3200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1852" y="2999232"/>
            <a:ext cx="1280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44752" y="2962656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</a:rPr>
              <a:t>Run query: how does covid spread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05840" y="3547872"/>
            <a:ext cx="320040" cy="3200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1852" y="3611880"/>
            <a:ext cx="1280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44752" y="3575304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</a:rPr>
              <a:t>Show Top-K results and node/edge scores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05840" y="4160520"/>
            <a:ext cx="320040" cy="3200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1852" y="4224528"/>
            <a:ext cx="1280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44752" y="4187952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</a:rPr>
              <a:t>Show evaluation metrics for one qid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05840" y="4773168"/>
            <a:ext cx="320040" cy="3200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1852" y="4837176"/>
            <a:ext cx="1280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44752" y="480060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</a:rPr>
              <a:t>Explain innovation statement in one line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5440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</a:rPr>
              <a:t>Viva one-liner: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88920" y="5440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7E8"/>
                </a:solidFill>
              </a:rPr>
              <a:t>"My system retrieves by comparing query and document dependency graphs using semantic node and relation-aware edge similarity."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Course Project | Information Retrieval Using Dependency Graphs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4C75"/>
          </a:solidFill>
          <a:ln w="12700">
            <a:solidFill>
              <a:srgbClr val="1C4C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Graph IR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10789920" cy="4480560"/>
          </a:xfrm>
          <a:prstGeom prst="roundRect">
            <a:avLst>
              <a:gd name="adj" fmla="val 1633"/>
            </a:avLst>
          </a:prstGeom>
          <a:solidFill>
            <a:srgbClr val="13395B">
              <a:alpha val="96000"/>
            </a:srgbClr>
          </a:solidFill>
          <a:ln w="12700">
            <a:solidFill>
              <a:srgbClr val="6C8CC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703"/>
                </a:solidFill>
              </a:rPr>
              <a:t>What this project demonstrates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987552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complete Graph IR implementation from dataset to deployment.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Clear innovation over pure keyword or exact-graph baselines.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Professor-friendly analysis using diagnostic and ablation evidence.
</a:t>
            </a:r>
            <a:pPr indent="0" marL="0">
              <a:buNone/>
            </a:pPr>
            <a:r>
              <a:rPr lang="en-US" sz="1500" dirty="0">
                <a:solidFill>
                  <a:srgbClr val="F3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Deployment-ready architecture suitable for live demo.
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8FF"/>
                </a:solidFill>
              </a:rPr>
              <a:t>Cross-encoder reranking | better parser | full-corpus evaluation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692640" y="5989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B70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and 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659282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NLP Project Evaluation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IIIT Dharwad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Retrieval Using Dependency Graphs</dc:title>
  <dc:subject>NLP Project - Graph IR</dc:subject>
  <dc:creator>Sirim</dc:creator>
  <cp:lastModifiedBy>Sirim</cp:lastModifiedBy>
  <cp:revision>1</cp:revision>
  <dcterms:created xsi:type="dcterms:W3CDTF">2026-04-12T19:12:35Z</dcterms:created>
  <dcterms:modified xsi:type="dcterms:W3CDTF">2026-04-12T19:12:35Z</dcterms:modified>
</cp:coreProperties>
</file>